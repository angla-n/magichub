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封面：MagicHub 产品说明书，深紫暗色品牌主视觉，交代产品名称、文档版本与设计团队。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开场一句话：这是一份关于 MagicHub 聊天软件的完整产品说明书，从定位、功能、架构到 UI 规范，逐层展开。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目录页：六章内容左右双列排布，交代整份说明书的阅读地图。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读者可以按需跳读：关注定位看 01，关注实现看 03，关注视觉看 04。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产品概述页：一句话定位 + 三大核心价值（轻量、安全、高效），左右分栏呈现。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讲稿：MagicHub 的核心不是功能堆叠，而是三个关键词——轻量、安全、高效，后续所有设计都围绕它们展开。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核心功能页：六个功能模块以图标 + 名称 + 一句话说明排布，两行三列。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讲稿：聊天不是只有发消息，MagicHub 把即时聊天、群组协作、语音视频、文件传输、安全加密和全局搜索六个模块一次性补齐。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技术架构页：表现层、服务层、扩展层三栏布局，箭头表示数据流向。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讲稿：前端 TypeScript 负责体验，后端 Node.js 负责业务，最吃性能的加解密、消息队列和媒体处理交给 Rust 原生模块，各层各司其职。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UI 设计规范页：五色色板 + 字体排版、设计原则、组件规范三列说明。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讲稿：整套 UI 只有五个核心色，深色为底、紫色点睛，所有组件都按 4 点栅格和统一圆角体系来约束。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界面组件页：以应用线框形式展示导航栏、会话列表、消息气泡、输入条等核心组件。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讲稿：这一页相当于把聊天主界面拆开来看，左侧导航、中间会话列表、右侧消息区与输入条，每个组件都有统一的紫色语言。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性能与安全页：三个目标指标 + 安全承诺与性能特性双栏清单。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讲稿：性能目标给出量化指标，安全层面主打端到端加密与本地优先，性能层面强调 Rust 扩展带来的吞吐与弱网体验。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开发路线图页：四阶段时间轴，每阶段列出三项关键交付物。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讲稿：基础框架先搭脚手架与组件库，第二阶段打通实时消息，第三阶段补增强能力，最后压测审计后正式发布。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结尾页：深紫暗色收束，主口号 + 文档版本信息。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讲稿：MagicHub 的初心就是让沟通回归轻量。这份说明书是起点，接下来进入开发阶段，期待与你一起把它变成现实。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notesSlides/notesSlide4.xml" Type="http://schemas.openxmlformats.org/officeDocument/2006/relationships/notesSlid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notesSlides/notesSlide7.xml" Type="http://schemas.openxmlformats.org/officeDocument/2006/relationships/notesSlid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0.xml" Type="http://schemas.openxmlformats.org/officeDocument/2006/relationships/notesSlide"/><Relationship Id="rId4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9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0400" y="558800"/>
            <a:ext cx="508000" cy="508000"/>
          </a:xfrm>
          <a:prstGeom prst="roundRect">
            <a:avLst>
              <a:gd name="adj" fmla="val 25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A855F7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320800" y="5588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9E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MagicHub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8763000" y="6858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78BF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PRODUCT SPECIFICATION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60400" y="2362200"/>
            <a:ext cx="711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8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MagicHub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" y="4038600"/>
            <a:ext cx="13970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60400" y="43434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C4B5F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产品说明书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60400" y="5181600"/>
            <a:ext cx="711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6CB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轻量 · 安全 · 高效的全新聊天体验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60400" y="6172200"/>
            <a:ext cx="660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V1.0 · 2026-10 · MagicHub Product Design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D0B18">
                <a:alpha val="100000"/>
              </a:srgbClr>
            </a:gs>
            <a:gs pos="100000">
              <a:srgbClr val="1812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9144000" y="838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CONTENTS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01800"/>
            <a:ext cx="8128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311400"/>
            <a:ext cx="81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81200" y="22860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产品概述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81200" y="2794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定位、目标用户与核心价值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046" flipH="false" flipV="false">
            <a:off x="1016008" y="33464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3479800"/>
            <a:ext cx="81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81200" y="34544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核心功能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981200" y="3962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六大功能模块，覆盖完整聊天场景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046" flipH="false" flipV="false">
            <a:off x="1016008" y="45148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4648200"/>
            <a:ext cx="81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981200" y="46228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技术架构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981200" y="51308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Node.js 全栈与 Rust 原生扩展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046" flipH="false" flipV="false">
            <a:off x="1016008" y="5683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6350000" y="2311400"/>
            <a:ext cx="81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04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315200" y="22860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UI 设计规范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315200" y="2794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深紫暗色主题设计体系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046" flipH="false" flipV="false">
            <a:off x="6350008" y="33464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6350000" y="3479800"/>
            <a:ext cx="81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315200" y="34544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性能与安全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315200" y="3962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高可用承诺与隐私保护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9046" flipH="false" flipV="false">
            <a:off x="6350008" y="45148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 txBox="true"/>
          <p:nvPr/>
        </p:nvSpPr>
        <p:spPr>
          <a:xfrm rot="0" flipH="false" flipV="false">
            <a:off x="6350000" y="4648200"/>
            <a:ext cx="81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06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315200" y="4622800"/>
            <a:ext cx="381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开发路线图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7315200" y="51308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分阶段里程碑规划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046" flipH="false" flipV="false">
            <a:off x="6350008" y="5683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D0B18">
                <a:alpha val="100000"/>
              </a:srgbClr>
            </a:gs>
            <a:gs pos="100000">
              <a:srgbClr val="1812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 · 产品概述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193800"/>
            <a:ext cx="1041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为开发者与团队打造的轻量聊天应用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55800"/>
            <a:ext cx="8128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362200"/>
            <a:ext cx="533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MagicHub 是一款以 Node.js 全栈为核心、Rust 原生扩展赋能的高性能聊天软件。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面向追求轻量、安全、可控沟通体验的个人开发者与小团队，本地优先、隐私友好，开箱即用。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112000" y="2362200"/>
            <a:ext cx="60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823200" y="23622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轻量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112000" y="29210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极简启动，资源占用低，秒开即聊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112000" y="3810000"/>
            <a:ext cx="60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823200" y="38100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安全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7112000" y="43688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端到端加密，聊天记录本地优先存储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112000" y="5257800"/>
            <a:ext cx="60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823200" y="52578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高效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112000" y="58166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Rust 加速关键链路，消息低延迟送达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88463" flipH="false" flipV="false">
            <a:off x="4711700" y="4248161"/>
            <a:ext cx="3784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0B18">
                <a:alpha val="100000"/>
              </a:srgbClr>
            </a:gs>
            <a:gs pos="100000">
              <a:srgbClr val="1812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 · 核心功能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193800"/>
            <a:ext cx="1041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六大模块，覆盖完整聊天场景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55800"/>
            <a:ext cx="8128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3876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1524000" y="2387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即时聊天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895600"/>
            <a:ext cx="317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文本、图片、表情与消息回执，会话体验顺滑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3876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 txBox="true"/>
          <p:nvPr/>
        </p:nvSpPr>
        <p:spPr>
          <a:xfrm rot="0" flipH="false" flipV="false">
            <a:off x="5207000" y="2387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群组协作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699000" y="2895600"/>
            <a:ext cx="317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多人会话、@提及与角色权限，协作更高效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3876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 txBox="true"/>
          <p:nvPr/>
        </p:nvSpPr>
        <p:spPr>
          <a:xfrm rot="0" flipH="false" flipV="false">
            <a:off x="8890000" y="2387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语音视频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382000" y="2895600"/>
            <a:ext cx="317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高质量语音与视频通话，随时面对面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4704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1524000" y="44704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文件传输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" y="4978400"/>
            <a:ext cx="317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拖拽即传、断点续传，大文件也不怕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44704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 txBox="true"/>
          <p:nvPr/>
        </p:nvSpPr>
        <p:spPr>
          <a:xfrm rot="0" flipH="false" flipV="false">
            <a:off x="5207000" y="44704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安全加密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4699000" y="4978400"/>
            <a:ext cx="317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端到端加密与阅后即焚，隐私有保障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4704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 txBox="true"/>
          <p:nvPr/>
        </p:nvSpPr>
        <p:spPr>
          <a:xfrm rot="0" flipH="false" flipV="false">
            <a:off x="8890000" y="44704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全局搜索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382000" y="4978400"/>
            <a:ext cx="317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跨会话检索消息与文件，秒级定位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D0B18">
                <a:alpha val="100000"/>
              </a:srgbClr>
            </a:gs>
            <a:gs pos="100000">
              <a:srgbClr val="1812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 · 技术架构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193800"/>
            <a:ext cx="1041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Node.js 全栈 + Rust 原生扩展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55800"/>
            <a:ext cx="8128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2352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表现层 · Frontend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6924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TypeScript · 组件化 UI · WebSocket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4572000" y="22352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服务层 · Backend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572000" y="26924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Node.js API · 会话消息 · 事件总线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128000" y="22352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扩展层 · Native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128000" y="26924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Rust 模块（N-API）· 性能敏感链路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416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219200" y="3327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TypeScript 前端工程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924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219200" y="3835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组件化聊天 UI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432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219200" y="4343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WebSocket 实时通道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72000" y="3416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4775200" y="3327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Node.js 服务端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72000" y="3924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775200" y="3835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会话 · 消息 · 通知 API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72000" y="4432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4775200" y="4343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事件总线与鉴权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416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8331200" y="3327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Rust 原生扩展（N-API）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0" y="3924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8331200" y="3835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高速加解密 · 消息队列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28000" y="4432300"/>
            <a:ext cx="76200" cy="76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8331200" y="43434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图像与媒体处理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95468" flipH="false" flipV="false">
            <a:off x="4089488" y="38798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A855F7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0" id="30"/>
          <p:cNvCxnSpPr/>
          <p:nvPr/>
        </p:nvCxnSpPr>
        <p:spPr>
          <a:xfrm rot="-95468" flipH="false" flipV="false">
            <a:off x="7645488" y="38798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A855F7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31" id="31"/>
          <p:cNvSpPr txBox="true"/>
          <p:nvPr/>
        </p:nvSpPr>
        <p:spPr>
          <a:xfrm rot="0" flipH="false" flipV="false">
            <a:off x="1016000" y="53848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性能敏感链路由 Rust 通过 N-API 以原生模块形式接入 Node.js，兼顾开发效率与运行性能。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D0B18">
                <a:alpha val="100000"/>
              </a:srgbClr>
            </a:gs>
            <a:gs pos="100000">
              <a:srgbClr val="1812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04 · UI 设计规范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193800"/>
            <a:ext cx="1041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深紫暗色主题 · 一套克制的设计体系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55800"/>
            <a:ext cx="8128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362200"/>
            <a:ext cx="1117600" cy="711200"/>
          </a:xfrm>
          <a:prstGeom prst="roundRect">
            <a:avLst>
              <a:gd name="adj" fmla="val 14285"/>
            </a:avLst>
          </a:prstGeom>
          <a:solidFill>
            <a:srgbClr val="7C3A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175000"/>
            <a:ext cx="1117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主色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429000"/>
            <a:ext cx="111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#7C3AED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387600" y="2362200"/>
            <a:ext cx="1117600" cy="711200"/>
          </a:xfrm>
          <a:prstGeom prst="roundRect">
            <a:avLst>
              <a:gd name="adj" fmla="val 14285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387600" y="3175000"/>
            <a:ext cx="1117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亮紫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387600" y="3429000"/>
            <a:ext cx="111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#A855F7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59200" y="2362200"/>
            <a:ext cx="1117600" cy="711200"/>
          </a:xfrm>
          <a:prstGeom prst="roundRect">
            <a:avLst>
              <a:gd name="adj" fmla="val 14285"/>
            </a:avLst>
          </a:prstGeom>
          <a:solidFill>
            <a:srgbClr val="C4B5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759200" y="3175000"/>
            <a:ext cx="1117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浅紫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759200" y="3429000"/>
            <a:ext cx="111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#C4B5FD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130800" y="2362200"/>
            <a:ext cx="1117600" cy="711200"/>
          </a:xfrm>
          <a:prstGeom prst="roundRect">
            <a:avLst>
              <a:gd name="adj" fmla="val 14285"/>
            </a:avLst>
          </a:prstGeom>
          <a:solidFill>
            <a:srgbClr val="0D0B18">
              <a:alpha val="100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130800" y="3175000"/>
            <a:ext cx="1117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背景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130800" y="3429000"/>
            <a:ext cx="111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#0D0B18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02400" y="2362200"/>
            <a:ext cx="1117600" cy="711200"/>
          </a:xfrm>
          <a:prstGeom prst="roundRect">
            <a:avLst>
              <a:gd name="adj" fmla="val 14285"/>
            </a:avLst>
          </a:prstGeom>
          <a:solidFill>
            <a:srgbClr val="EDE9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502400" y="3175000"/>
            <a:ext cx="1117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文本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502400" y="3429000"/>
            <a:ext cx="111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#EDE9FE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16000" y="41910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字体与排版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16000" y="4648200"/>
            <a:ext cx="317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字体：微软雅黑，标题 Bold / 正文 Regular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字号层级：28 / 20 / 14 / 12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圆角：4 / 8 / 16 三档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间距：4 点栅格系统</a:t>
            </a:r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4572000" y="41910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设计原则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4572000" y="4648200"/>
            <a:ext cx="330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深色为底 · 紫色点睛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克制留白，拒绝花哨渐变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组件统一，状态清晰可辨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交互反馈即时且克制</a:t>
            </a:r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8128000" y="41910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组件规范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8128000" y="4648200"/>
            <a:ext cx="317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头像：圆形，默认 32 px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气泡：细描边，圆角 12 px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输入条：高度 48 px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间距：8 点基准网格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0B18">
                <a:alpha val="100000"/>
              </a:srgbClr>
            </a:gs>
            <a:gs pos="100000">
              <a:srgbClr val="1812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05 · 界面组件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193800"/>
            <a:ext cx="1041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导航 · 会话 · 消息 · 输入，一页看全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55800"/>
            <a:ext cx="8128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41400" y="2413000"/>
            <a:ext cx="38100" cy="2794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82700" y="2387600"/>
            <a:ext cx="2794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282700" y="3098800"/>
            <a:ext cx="279400" cy="279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82700" y="3810000"/>
            <a:ext cx="2794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282700" y="4521200"/>
            <a:ext cx="2794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282700" y="5232400"/>
            <a:ext cx="279400" cy="279400"/>
          </a:xfrm>
          <a:prstGeom prst="rect">
            <a:avLst/>
          </a:prstGeom>
        </p:spPr>
      </p:pic>
      <p:cxnSp>
        <p:nvCxnSpPr>
          <p:cNvPr name="Connector 11" id="11"/>
          <p:cNvCxnSpPr/>
          <p:nvPr/>
        </p:nvCxnSpPr>
        <p:spPr>
          <a:xfrm rot="5388307" flipH="false" flipV="false">
            <a:off x="-12700" y="4095761"/>
            <a:ext cx="373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2032000" y="22606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会话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32000" y="2743200"/>
            <a:ext cx="381000" cy="381000"/>
          </a:xfrm>
          <a:prstGeom prst="ellipse">
            <a:avLst/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A855F7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565400" y="27686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4DEF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产品设计群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565400" y="3073400"/>
            <a:ext cx="1905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小紫：新版 UI 已上传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3886200" y="2794000"/>
            <a:ext cx="203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032000" y="3505200"/>
            <a:ext cx="381000" cy="381000"/>
          </a:xfrm>
          <a:prstGeom prst="ellipse">
            <a:avLst/>
          </a:prstGeom>
          <a:gradFill rotWithShape="true">
            <a:gsLst>
              <a:gs pos="0">
                <a:srgbClr val="4C1D9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2565400" y="35306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4DEF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周工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2565400" y="3835400"/>
            <a:ext cx="1905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收到，晚点回复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3556000" y="3556000"/>
            <a:ext cx="533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C6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14:32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032000" y="4267200"/>
            <a:ext cx="381000" cy="381000"/>
          </a:xfrm>
          <a:prstGeom prst="ellipse">
            <a:avLst/>
          </a:prstGeom>
          <a:gradFill rotWithShape="true">
            <a:gsLst>
              <a:gs pos="0">
                <a:srgbClr val="1E193A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2565400" y="42926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4DEF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MagicHub 官方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2565400" y="4597400"/>
            <a:ext cx="1905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欢迎使用 MagicHub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3454400" y="4318000"/>
            <a:ext cx="635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C6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昨天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4927600" y="2260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产品设计群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53200" y="2362200"/>
            <a:ext cx="101600" cy="1016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7" id="27"/>
          <p:cNvCxnSpPr/>
          <p:nvPr/>
        </p:nvCxnSpPr>
        <p:spPr>
          <a:xfrm rot="-6875" flipH="false" flipV="false">
            <a:off x="4826006" y="27114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 txBox="true"/>
          <p:nvPr/>
        </p:nvSpPr>
        <p:spPr>
          <a:xfrm rot="0" flipH="false" flipV="false">
            <a:off x="7366000" y="2844800"/>
            <a:ext cx="152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C6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今天 14:20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927600" y="3200400"/>
            <a:ext cx="50800" cy="508000"/>
          </a:xfrm>
          <a:prstGeom prst="roundRect">
            <a:avLst>
              <a:gd name="adj" fmla="val 0"/>
            </a:avLst>
          </a:prstGeom>
          <a:solidFill>
            <a:srgbClr val="A855F7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5130800" y="32004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C9C2E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新版聊天界面已经更新完成，大家可以去看看效果。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7874000" y="4191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4DEF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收到，我这就去看。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718800" y="4191000"/>
            <a:ext cx="50800" cy="304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5130800" y="50546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C6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对方正在输入…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927600" y="5334000"/>
            <a:ext cx="6096000" cy="558800"/>
          </a:xfrm>
          <a:prstGeom prst="roundRect">
            <a:avLst>
              <a:gd name="adj" fmla="val 18181"/>
            </a:avLst>
          </a:prstGeom>
          <a:noFill/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5130800" y="54864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6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输入消息…</a:t>
            </a:r>
            <a:endParaRPr lang="en-US" sz="1100"/>
          </a:p>
        </p:txBody>
      </p:sp>
      <p:sp>
        <p:nvSpPr>
          <p:cNvPr name="AutoShape 36" id="36"/>
          <p:cNvSpPr txBox="true"/>
          <p:nvPr/>
        </p:nvSpPr>
        <p:spPr>
          <a:xfrm rot="0" flipH="false" flipV="false">
            <a:off x="10109200" y="54610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发送</a:t>
            </a:r>
            <a:endParaRPr lang="en-US" sz="1100"/>
          </a:p>
        </p:txBody>
      </p:sp>
      <p:sp>
        <p:nvSpPr>
          <p:cNvPr name="AutoShape 37" id="37"/>
          <p:cNvSpPr txBox="true"/>
          <p:nvPr/>
        </p:nvSpPr>
        <p:spPr>
          <a:xfrm rot="0" flipH="false" flipV="false">
            <a:off x="1016000" y="6248400"/>
            <a:ext cx="1041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C6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组件均以 Token 化设计，统一深紫暗色主题，支持后续明暗双主题扩展。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0B18">
                <a:alpha val="100000"/>
              </a:srgbClr>
            </a:gs>
            <a:gs pos="100000">
              <a:srgbClr val="1812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06 · 性能与安全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193800"/>
            <a:ext cx="1041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快而稳，隐私是底线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55800"/>
            <a:ext cx="8128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362200"/>
            <a:ext cx="152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1ED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&lt;1s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175000"/>
            <a:ext cx="165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端到端消息送达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1016026" y="3041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3048000" y="2362200"/>
            <a:ext cx="177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1ED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99.9%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048000" y="3175000"/>
            <a:ext cx="165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全年服务可用性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28647" flipH="false" flipV="false">
            <a:off x="3048026" y="3041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5080000" y="2362200"/>
            <a:ext cx="76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1ED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080000" y="31750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云端零明文存储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28647" flipH="false" flipV="false">
            <a:off x="5080026" y="3041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7112000" y="23622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C4B5F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你的聊天，只属于你。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C4B5F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MagicHub 默认端到端加密，服务器不保存任何明文消息。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0" y="2489200"/>
            <a:ext cx="711200" cy="711200"/>
          </a:xfrm>
          <a:prstGeom prst="rect">
            <a:avLst/>
          </a:prstGeom>
        </p:spPr>
      </p:pic>
      <p:sp>
        <p:nvSpPr>
          <p:cNvPr name="AutoShape 16" id="16"/>
          <p:cNvSpPr txBox="true"/>
          <p:nvPr/>
        </p:nvSpPr>
        <p:spPr>
          <a:xfrm rot="0" flipH="false" flipV="false">
            <a:off x="1016000" y="41910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安全承诺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46482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46482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端到端加密（E2EE），会话密钥仅存本地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16000" y="51308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51308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Rust 承载加解密逻辑，内存安全有保障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16000" y="56134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574800" y="56134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本地优先存储，云端仅作安全中转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016000" y="6096000"/>
            <a:ext cx="457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04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574800" y="6096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核心模块开源可审计，构建可复现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112000" y="41910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性能特性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112000" y="46482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Rust 原生模块替代 JS 热点路径，吞吐提升显著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7112000" y="51308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增量同步与本地缓存，弱网环境依旧流畅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7112000" y="56134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WebSocket 长连接 + 心跳保活，消息实时到达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7112000" y="6096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B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持续性能压测，发布前通过基准门槛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D0B18">
                <a:alpha val="100000"/>
              </a:srgbClr>
            </a:gs>
            <a:gs pos="100000">
              <a:srgbClr val="1812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855F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07 · 开发路线图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193800"/>
            <a:ext cx="1041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四个阶段，从原型到正式发布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55800"/>
            <a:ext cx="8128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380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A855F7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549400" y="3708400"/>
            <a:ext cx="203200" cy="203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00600" y="3708400"/>
            <a:ext cx="203200" cy="203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51800" y="3708400"/>
            <a:ext cx="203200" cy="203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303000" y="3708400"/>
            <a:ext cx="203200" cy="2032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81000" y="24892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阶段一 · 基础框架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632200" y="24892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阶段二 · 核心聊天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883400" y="24892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阶段三 · 增强功能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34600" y="2489200"/>
            <a:ext cx="254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DE9F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阶段四 · 发布优化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44500" y="4038600"/>
            <a:ext cx="2413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工程脚手架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UI 组件库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Rust 扩展接入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3695700" y="4038600"/>
            <a:ext cx="2413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实时消息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会话管理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联系人体系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946900" y="4038600"/>
            <a:ext cx="2413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语音视频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文件传输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全局搜索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98100" y="4038600"/>
            <a:ext cx="2413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性能压测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安全审计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正式发布</a:t>
            </a:r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16000" y="59690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63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里程碑以周为粒度滚动规划，发布时间以实际验证结果为准。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9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3175000" y="2133600"/>
            <a:ext cx="584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1ED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让沟通，回归轻量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969000" y="3454400"/>
            <a:ext cx="1016000" cy="508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7C3AED">
                  <a:alpha val="100000"/>
                </a:srgbClr>
              </a:gs>
              <a:gs pos="100000">
                <a:srgbClr val="C4B5F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3810000" y="3810000"/>
            <a:ext cx="457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4B5F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MagicHub · 产品说明书 V1.0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4572000" y="6070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E86B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2026-10 · MagicHub Product Design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